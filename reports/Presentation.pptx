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051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CAPSTONE SUBMISSION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417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Indian Mutual Fund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&amp; Risk Intelligence Platform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0632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ETL, an 11-table SQLite warehouse, a 5-factor fund scorecard, VaR/CVaR and Monte Carlo risk models, and an interactive Power BI dashboard.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977640"/>
            <a:ext cx="3108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714646"/>
            <a:ext cx="310896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Schemes Analysed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3977640"/>
            <a:ext cx="3108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+169.2%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4714646"/>
            <a:ext cx="310896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SIP Growth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3977640"/>
            <a:ext cx="3108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4714646"/>
            <a:ext cx="310896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Star Schema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5394960"/>
            <a:ext cx="10360152" cy="960120"/>
          </a:xfrm>
          <a:prstGeom prst="roundRect">
            <a:avLst>
              <a:gd name="adj" fmla="val 7619"/>
            </a:avLst>
          </a:prstGeom>
          <a:solidFill>
            <a:srgbClr val="1633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550468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Varundeep</a:t>
            </a:r>
            <a:pPr indent="0" marL="0">
              <a:buNone/>
            </a:pPr>
            <a:r>
              <a:rPr lang="en-US" sz="120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Bluestock Fintech   |   September 2026   |   Version 1.0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585216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github.com/Varundeep09/bluestock-mf-capstone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Platform Exists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257800" cy="4709160"/>
          </a:xfrm>
          <a:prstGeom prst="roundRect">
            <a:avLst>
              <a:gd name="adj" fmla="val 155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801368"/>
            <a:ext cx="4800600" cy="4343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Business Problems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Opaque fund selection  </a:t>
            </a:r>
            <a:pPr indent="0" marL="0">
              <a:lnSpc>
                <a:spcPct val="110000"/>
              </a:lnSpc>
              <a:spcAft>
                <a:spcPts val="1100"/>
              </a:spcAft>
              <a:buNone/>
            </a:pPr>
            <a:r>
              <a:rPr lang="en-US" sz="11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returns alone hide real risk-adjusted quality.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Fragmented data  </a:t>
            </a:r>
            <a:pPr indent="0" marL="0">
              <a:lnSpc>
                <a:spcPct val="110000"/>
              </a:lnSpc>
              <a:spcAft>
                <a:spcPts val="1100"/>
              </a:spcAft>
              <a:buNone/>
            </a:pPr>
            <a:r>
              <a:rPr lang="en-US" sz="11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AMFI NAV, AUM and SIP data live in disconnected formats.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Blindness to tail risk  </a:t>
            </a:r>
            <a:pPr indent="0" marL="0">
              <a:lnSpc>
                <a:spcPct val="110000"/>
              </a:lnSpc>
              <a:spcAft>
                <a:spcPts val="1100"/>
              </a:spcAft>
              <a:buNone/>
            </a:pPr>
            <a:r>
              <a:rPr lang="en-US" sz="11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metrics miss VaR/CVaR-style downside exposure.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Silent SIP drop-off  </a:t>
            </a:r>
            <a:pPr indent="0" marL="0">
              <a:lnSpc>
                <a:spcPct val="110000"/>
              </a:lnSpc>
              <a:spcAft>
                <a:spcPts val="1100"/>
              </a:spcAft>
              <a:buNone/>
            </a:pPr>
            <a:r>
              <a:rPr lang="en-US" sz="11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early signal when investors go quiet on their SIPs.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— Hidden concentration  </a:t>
            </a:r>
            <a:pPr indent="0" marL="0">
              <a:lnSpc>
                <a:spcPct val="110000"/>
              </a:lnSpc>
              <a:spcAft>
                <a:spcPts val="1100"/>
              </a:spcAft>
              <a:buNone/>
            </a:pPr>
            <a:r>
              <a:rPr lang="en-US" sz="11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Single-sector overweight often goes completely unflagged.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80760" y="1600200"/>
            <a:ext cx="5120640" cy="4709160"/>
          </a:xfrm>
          <a:prstGeom prst="roundRect">
            <a:avLst>
              <a:gd name="adj" fmla="val 155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09360" y="1801368"/>
            <a:ext cx="4663440" cy="4343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Project Objectives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 Automated ETL across 10 CSVs + live API feeds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 11-table normalised SQLite star schema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 15+ chart EDA across NAV, AUM, SIP, demographics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 5-factor 0–100 fund scorecard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  95% Historical VaR &amp; CVaR across all 40 schemes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  Investor cohort &amp; SIP-continuity analytics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O7  Monte Carlo + Markowitz portfolio modelling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O8  4-page interactive Power BI dashboard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Datasets, 6 Live Feeds, One Warehouse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257800" cy="4709160"/>
          </a:xfrm>
          <a:prstGeom prst="roundRect">
            <a:avLst>
              <a:gd name="adj" fmla="val 155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Ingested Volume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2354580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46,000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66567"/>
            <a:ext cx="235458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NAV Records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177540" y="2514600"/>
            <a:ext cx="2354580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32,778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177540" y="3166567"/>
            <a:ext cx="235458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Transactions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069080"/>
            <a:ext cx="2354580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8,050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721047"/>
            <a:ext cx="235458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Index Points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177540" y="4069080"/>
            <a:ext cx="2354580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177540" y="4721047"/>
            <a:ext cx="235458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AUM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80760" y="1600200"/>
            <a:ext cx="5120640" cy="4709160"/>
          </a:xfrm>
          <a:prstGeom prst="roundRect">
            <a:avLst>
              <a:gd name="adj" fmla="val 1553"/>
            </a:avLst>
          </a:prstGeom>
          <a:solidFill>
            <a:srgbClr val="E8F5EC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09360" y="1783080"/>
            <a:ext cx="4663440" cy="4343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1B7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Authenticity Disclosure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AMFI metadata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 codes, AMC names, expense ratios from real filings.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NAV history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NAV &amp; benchmark series anchored to real volatility.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industry aggregates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inflows and AUM mirror published AMFI disclosures.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00" b="1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investor layer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3C4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&amp; demographic data is modelled, not live brokerage data — disclosed throughout.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Five-Layer Pipeline, 25.4-Second Build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2036003" cy="1371600"/>
          </a:xfrm>
          <a:prstGeom prst="roundRect">
            <a:avLst>
              <a:gd name="adj" fmla="val 533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365474" y="1874520"/>
            <a:ext cx="402336" cy="402336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65474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1853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06040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CSVs +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mfapi.in feeds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602931" y="1737360"/>
            <a:ext cx="192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813243" y="1737360"/>
            <a:ext cx="2036003" cy="1371600"/>
          </a:xfrm>
          <a:prstGeom prst="roundRect">
            <a:avLst>
              <a:gd name="adj" fmla="val 533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30077" y="1874520"/>
            <a:ext cx="402336" cy="402336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30077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04683" y="2331720"/>
            <a:ext cx="1853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904683" y="2606040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validate,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forward-fill NAV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867534" y="1737360"/>
            <a:ext cx="192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077846" y="1737360"/>
            <a:ext cx="2036003" cy="1371600"/>
          </a:xfrm>
          <a:prstGeom prst="roundRect">
            <a:avLst>
              <a:gd name="adj" fmla="val 5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94680" y="1874520"/>
            <a:ext cx="402336" cy="402336"/>
          </a:xfrm>
          <a:prstGeom prst="ellipse">
            <a:avLst/>
          </a:prstGeom>
          <a:solidFill>
            <a:srgbClr val="E3A00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46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9286" y="2331720"/>
            <a:ext cx="1853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169286" y="2606040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star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(11 tbl)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132137" y="1737360"/>
            <a:ext cx="192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342449" y="1737360"/>
            <a:ext cx="2036003" cy="1371600"/>
          </a:xfrm>
          <a:prstGeom prst="roundRect">
            <a:avLst>
              <a:gd name="adj" fmla="val 533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59283" y="1874520"/>
            <a:ext cx="402336" cy="402336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59283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433889" y="2331720"/>
            <a:ext cx="1853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 Engine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433889" y="2606040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VaR,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396740" y="1737360"/>
            <a:ext cx="192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9607052" y="1737360"/>
            <a:ext cx="2036003" cy="1371600"/>
          </a:xfrm>
          <a:prstGeom prst="roundRect">
            <a:avLst>
              <a:gd name="adj" fmla="val 5333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0423886" y="1874520"/>
            <a:ext cx="402336" cy="402336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2388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698492" y="2331720"/>
            <a:ext cx="1853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 Layer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698492" y="2606040"/>
            <a:ext cx="18531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</a:t>
            </a:r>
            <a:endParaRPr lang="en-US" sz="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live pages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3429000"/>
            <a:ext cx="11094415" cy="2880360"/>
          </a:xfrm>
          <a:prstGeom prst="roundRect">
            <a:avLst>
              <a:gd name="adj" fmla="val 2540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2960" y="361188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Warehouse — data/db/bluestock_mf.db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580589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2580589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338218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4" name="Text 42"/>
          <p:cNvSpPr txBox="1"/>
          <p:nvPr/>
        </p:nvSpPr>
        <p:spPr>
          <a:xfrm>
            <a:off x="4338218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095848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46K</a:t>
            </a:r>
            <a:endParaRPr lang="en-US" sz="2200" dirty="0"/>
          </a:p>
        </p:txBody>
      </p:sp>
      <p:sp>
        <p:nvSpPr>
          <p:cNvPr id="46" name="Text 44"/>
          <p:cNvSpPr txBox="1"/>
          <p:nvPr/>
        </p:nvSpPr>
        <p:spPr>
          <a:xfrm>
            <a:off x="6095848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Rows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7853477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32.7K</a:t>
            </a:r>
            <a:endParaRPr lang="en-US" sz="2200" dirty="0"/>
          </a:p>
        </p:txBody>
      </p:sp>
      <p:sp>
        <p:nvSpPr>
          <p:cNvPr id="48" name="Text 46"/>
          <p:cNvSpPr txBox="1"/>
          <p:nvPr/>
        </p:nvSpPr>
        <p:spPr>
          <a:xfrm>
            <a:off x="7853477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611106" y="4069080"/>
            <a:ext cx="1757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25.4s</a:t>
            </a:r>
            <a:endParaRPr lang="en-US" sz="2200" dirty="0"/>
          </a:p>
        </p:txBody>
      </p:sp>
      <p:sp>
        <p:nvSpPr>
          <p:cNvPr id="50" name="Text 48"/>
          <p:cNvSpPr txBox="1"/>
          <p:nvPr/>
        </p:nvSpPr>
        <p:spPr>
          <a:xfrm>
            <a:off x="9611106" y="4636008"/>
            <a:ext cx="175762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Build Time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keys enforced (PRAGMA foreign_keys = ON), composite B-Tree indexes on amfi_code and date, ACID-safe batched commits.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Capital Is Structurally Rising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4572000" cy="4709160"/>
          </a:xfrm>
          <a:prstGeom prst="roundRect">
            <a:avLst>
              <a:gd name="adj" fmla="val 1600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783080"/>
            <a:ext cx="4114800" cy="4343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Macro Findings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SIP surge (+169.2%)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inflows grew from ₹11,517 Cr to a record ₹31,002 Cr (Dec 2025).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folio doubling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folios expanded from 13.26 Cr to 26.12 Cr; equity now 69.98% of the total.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AMC dominance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SBI, ICICI Prudential and HDFC manage over 55% of industry AUM.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through corrections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inflows held steady through the 2022 and 2023 drawdowns.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94960" y="1600200"/>
            <a:ext cx="6248095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pic>
        <p:nvPicPr>
          <p:cNvPr id="11" name="Image 0" descr="/home/claude/pptx_work/assets/sip_inflow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783080"/>
            <a:ext cx="5973775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&amp; PORTFOLIO MIX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Who's Investing, And Where the Money Sits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4572000" cy="4709160"/>
          </a:xfrm>
          <a:prstGeom prst="roundRect">
            <a:avLst>
              <a:gd name="adj" fmla="val 1600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783080"/>
            <a:ext cx="4114800" cy="4343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Demographic &amp; Sector Findings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Millennial-led adoption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26–45 make up 41% of accounts; 26–35 alone is the single largest cohort.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Beyond-metro reach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B30 semi-urban and rural cities drive ~40% of transaction volume.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Digital-first payments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and eNACH mandates capture 68% of all transactions.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sector tilt  </a:t>
            </a:r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and IT together account for ~26% of all equity holdings.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94960" y="1600200"/>
            <a:ext cx="6248095" cy="2263140"/>
          </a:xfrm>
          <a:prstGeom prst="roundRect">
            <a:avLst>
              <a:gd name="adj" fmla="val 3232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pic>
        <p:nvPicPr>
          <p:cNvPr id="11" name="Image 0" descr="/home/claude/pptx_work/assets/demographics_cropp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691640"/>
            <a:ext cx="5973775" cy="20802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94960" y="4046220"/>
            <a:ext cx="6248095" cy="2263140"/>
          </a:xfrm>
          <a:prstGeom prst="roundRect">
            <a:avLst>
              <a:gd name="adj" fmla="val 3232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pic>
        <p:nvPicPr>
          <p:cNvPr id="13" name="Image 1" descr="/home/claude/pptx_work/assets/sector_donu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4137660"/>
            <a:ext cx="5973775" cy="2080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MODEL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5-Factor Scorecard Ranks All 40 Funds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4297680" cy="4709160"/>
          </a:xfrm>
          <a:prstGeom prst="roundRect">
            <a:avLst>
              <a:gd name="adj" fmla="val 170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Scorecard Weighting (0–100)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2402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CAGR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89864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28986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(Rf = 6.5%)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5701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5701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Jensen's Alpha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21538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21538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Ratio (inverted)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737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8737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 (inverted)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20640" y="1600200"/>
            <a:ext cx="6522415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349240" y="1764792"/>
            <a:ext cx="6065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Ranked Schemes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2103120"/>
          <a:ext cx="6156655" cy="3931920"/>
        </p:xfrm>
        <a:graphic>
          <a:graphicData uri="http://schemas.openxmlformats.org/drawingml/2006/table">
            <a:tbl>
              <a:tblPr/>
              <a:tblGrid>
                <a:gridCol w="411480"/>
                <a:gridCol w="2681935"/>
                <a:gridCol w="731520"/>
                <a:gridCol w="685800"/>
                <a:gridCol w="822960"/>
                <a:gridCol w="822960"/>
              </a:tblGrid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 Ret.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 Flexicap 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Small Cap 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 Liquid 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 Short Term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 Emerging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 RISK &amp; TRACKING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Risk Actually Concentrates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4572000" cy="4709160"/>
          </a:xfrm>
          <a:prstGeom prst="roundRect">
            <a:avLst>
              <a:gd name="adj" fmla="val 1600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7647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 1-Day VaR — Highest Exposure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03120"/>
          <a:ext cx="4206240" cy="18745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731520"/>
              </a:tblGrid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Small Cap (Direct)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 Small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ABSL Small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 India Small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1F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Small Cap (Regular)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2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77240" y="4206240"/>
            <a:ext cx="4114800" cy="19659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Risk Signals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error divergence 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caps run ~28% tracking error vs ~3.5% for large caps.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funds flagged for concentration  </a:t>
            </a:r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HHI &gt; 2500 — Axis Bluechip leads at 2967.7 (48.7% IT).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394960" y="1600200"/>
            <a:ext cx="6248095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pic>
        <p:nvPicPr>
          <p:cNvPr id="13" name="Image 0" descr="/home/claude/pptx_work/assets/top5_vs_benchm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783080"/>
            <a:ext cx="5973775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PART 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Overview &amp; Fund Scorecard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10048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504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1 — Industry &amp; Macro Overview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AUM, AMC market share, and the industry AUM growth trend.</a:t>
            </a:r>
            <a:endParaRPr lang="en-US" sz="950" dirty="0"/>
          </a:p>
        </p:txBody>
      </p:sp>
      <p:pic>
        <p:nvPicPr>
          <p:cNvPr id="11" name="Image 0" descr="/home/claude/pptx_work/assets/dash_page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560320"/>
            <a:ext cx="5135728" cy="3611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233008" y="1600200"/>
            <a:ext cx="5410048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415888" y="1737360"/>
            <a:ext cx="504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2 — Fund Performance Scorecard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15888" y="2039112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Return-vs-risk scatter, full scorecard table, and NAV-vs-benchmark view.</a:t>
            </a:r>
            <a:endParaRPr lang="en-US" sz="950" dirty="0"/>
          </a:p>
        </p:txBody>
      </p:sp>
      <p:pic>
        <p:nvPicPr>
          <p:cNvPr id="15" name="Image 1" descr="/home/claude/pptx_work/assets/dash_page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70168" y="2560320"/>
            <a:ext cx="513572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PART 2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Investor Behaviour &amp; SIP Trajectory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10048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1737360"/>
            <a:ext cx="504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3 — Investor Analytics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State-wise volume, transaction-type split, and age-group SIP sizing.</a:t>
            </a:r>
            <a:endParaRPr lang="en-US" sz="950" dirty="0"/>
          </a:p>
        </p:txBody>
      </p:sp>
      <p:pic>
        <p:nvPicPr>
          <p:cNvPr id="11" name="Image 0" descr="/home/claude/pptx_work/assets/dash_page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2560320"/>
            <a:ext cx="5135728" cy="3611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233008" y="1600200"/>
            <a:ext cx="5410048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415888" y="1737360"/>
            <a:ext cx="504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4 — SIP &amp; Market Trends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15888" y="2039112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inflow vs Nifty 50, category inflow heatmap, and YoY growth KPI.</a:t>
            </a:r>
            <a:endParaRPr lang="en-US" sz="950" dirty="0"/>
          </a:p>
        </p:txBody>
      </p:sp>
      <p:pic>
        <p:nvPicPr>
          <p:cNvPr id="15" name="Image 1" descr="/home/claude/pptx_work/assets/dash_page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70168" y="2560320"/>
            <a:ext cx="513572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75488"/>
            <a:ext cx="10500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TAKEAWAYS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731520"/>
            <a:ext cx="10500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Findings Leadership Should Act 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5379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MUTUAL FUND ANALYTICS CAPSTONE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0545775" y="65379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783080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25856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Structural SIP Moat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58775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inflows are up 169% since 2022 — a durable domestic liquidity buffer.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22978" y="160020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05858" y="178308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05858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05858" y="225856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Plans Compound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05858" y="258775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60–110 bps lower cost adds ~0.8% annualised net return over 3–5 years.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97317" y="160020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80197" y="1783080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80197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80197" y="225856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B30 Is Not Niche Anymore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80197" y="258775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Semi-urban and rural cities already drive ~40% of transaction volume.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1520" y="4251960"/>
            <a:ext cx="365760" cy="365760"/>
          </a:xfrm>
          <a:prstGeom prst="ellipse">
            <a:avLst/>
          </a:prstGeom>
          <a:solidFill>
            <a:srgbClr val="E3A00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472744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SIP Rhythm, Not Churn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05663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deposit cadence is ~65 days — retention alerts should recalibrate to that, not a rigid 35-day rule.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22978" y="406908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05858" y="4251960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5858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05858" y="472744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Needs Guardrails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4505858" y="505663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funds exceed HHI 2500; automated 30% single-sector alerts are warranted.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97317" y="4069080"/>
            <a:ext cx="3545738" cy="2240280"/>
          </a:xfrm>
          <a:prstGeom prst="roundRect">
            <a:avLst>
              <a:gd name="adj" fmla="val 3265"/>
            </a:avLst>
          </a:prstGeom>
          <a:solidFill>
            <a:srgbClr val="F6F7F9"/>
          </a:solidFill>
          <a:ln w="12700">
            <a:solidFill>
              <a:srgbClr val="E2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B1F27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280197" y="4251960"/>
            <a:ext cx="365760" cy="36576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80197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80197" y="4727448"/>
            <a:ext cx="31799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Core-Satellite Wins on Sharpe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280197" y="5056632"/>
            <a:ext cx="31799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debt core with high-alpha equity satellites lifts Sharpe to 2.12.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097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DELIVERABLES — COMPLETE &amp; VERIFIED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Mutual Fund Analytics &amp; Risk Intelligence Platform  —  Bluestock Fintech Capstone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971800"/>
            <a:ext cx="10360152" cy="2606040"/>
          </a:xfrm>
          <a:prstGeom prst="roundRect">
            <a:avLst>
              <a:gd name="adj" fmla="val 2807"/>
            </a:avLst>
          </a:prstGeom>
          <a:solidFill>
            <a:srgbClr val="1633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315468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Deliverables Inventory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56616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19-page Final Research Report — reports/Final_Report.pdf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393192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12-slide Executive Presentation — reports/Bluestock_MF_Presentation.pptx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429768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Power BI Dashboard — dashboard/bluestock_mf.pbix + Dashboard.pdf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66344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Executed Jupyter Notebooks — 01_data_ingestion → 05_advanced_analytics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5029200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0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E4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 &amp; SQLite Warehouse — data/db/bluestock_mf.db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0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github.com/Varundeep09/bluestock-mf-capstone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2026-09-15T20:46:18Z</dcterms:created>
  <dcterms:modified xsi:type="dcterms:W3CDTF">2026-09-15T20:46:18Z</dcterms:modified>
</cp:coreProperties>
</file>