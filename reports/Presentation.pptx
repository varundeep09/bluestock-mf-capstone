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9728" cy="4572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BLUESTOCK FINTECH CAPSTONE PROJECT — EXECUTIVE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Indian Mutual Fund Quantitative Analytics &amp; Risk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8D7EB"/>
                </a:solidFill>
              </a:defRPr>
            </a:pPr>
            <a:r>
              <a:t>End-to-End ETL Engineering, Relational Star Schema, Multi-Factor Scoring, Advanced Tail-Risk Models (VaR/CVaR, Monte Carlo, Markowitz Frontier), and Executive Power BI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931920"/>
            <a:ext cx="9875520" cy="1737360"/>
          </a:xfrm>
          <a:prstGeom prst="roundRect">
            <a:avLst/>
          </a:prstGeom>
          <a:solidFill>
            <a:srgbClr val="26466E"/>
          </a:solidFill>
          <a:ln w="127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69080"/>
            <a:ext cx="9509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Candidate / Lead Quant Engineer: Varundeep  |  Institutional Partner: Bluestock Fintech</a:t>
            </a:r>
          </a:p>
          <a:p>
            <a:pPr>
              <a:defRPr sz="1100">
                <a:solidFill>
                  <a:srgbClr val="DCE6F5"/>
                </a:solidFill>
              </a:defRPr>
            </a:pPr>
            <a:r>
              <a:t>Repository: github.com/Varundeep09/bluestock-mf-capstone  |  Date: September 2026 (Version 1.0)</a:t>
            </a:r>
          </a:p>
          <a:p>
            <a:pPr>
              <a:defRPr sz="1100">
                <a:solidFill>
                  <a:srgbClr val="B4CDEB"/>
                </a:solidFill>
              </a:defRPr>
            </a:pPr>
            <a:r>
              <a:t>Core Tech Stack: Python 3.13, SQLite 3, SQLAlchemy, Pandas, SciPy, Power BI Desktop, ReportLab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3557"/>
                </a:solidFill>
              </a:defRPr>
            </a:pPr>
            <a:r>
              <a:t>Business Problem Context &amp; Core Project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5 Core Business Challenges (P1 – P5)</a:t>
            </a:r>
          </a:p>
          <a:p>
            <a:pPr>
              <a:spcBef>
                <a:spcPts val="600"/>
              </a:spcBef>
              <a:defRPr sz="1000">
                <a:solidFill>
                  <a:srgbClr val="2B2D42"/>
                </a:solidFill>
              </a:defRPr>
            </a:pPr>
            <a:r>
              <a:t>• P1. Opaque Fund Selection: Evaluating funds on trailing returns alone ignores risk-adjusted efficiency, drawdowns, and expense leakage.</a:t>
            </a:r>
          </a:p>
          <a:p>
            <a:pPr>
              <a:spcBef>
                <a:spcPts val="600"/>
              </a:spcBef>
              <a:defRPr sz="1000">
                <a:solidFill>
                  <a:srgbClr val="2B2D42"/>
                </a:solidFill>
              </a:defRPr>
            </a:pPr>
            <a:r>
              <a:t>• P2. Fragmented Market Ingestion: Manual, error-prone data pipelines struggle with missing trading days and unstandardized AMFI feeds.</a:t>
            </a:r>
          </a:p>
          <a:p>
            <a:pPr>
              <a:spcBef>
                <a:spcPts val="600"/>
              </a:spcBef>
              <a:defRPr sz="1000">
                <a:solidFill>
                  <a:srgbClr val="2B2D42"/>
                </a:solidFill>
              </a:defRPr>
            </a:pPr>
            <a:r>
              <a:t>• P3. Blindness to Tail Risk: Traditional metrics overlook severe tail-risk losses (VaR/CVaR) during systemic market shocks.</a:t>
            </a:r>
          </a:p>
          <a:p>
            <a:pPr>
              <a:spcBef>
                <a:spcPts val="600"/>
              </a:spcBef>
              <a:defRPr sz="1000">
                <a:solidFill>
                  <a:srgbClr val="2B2D42"/>
                </a:solidFill>
              </a:defRPr>
            </a:pPr>
            <a:r>
              <a:t>• P4. Silent Retail SIP Churn: Distributor platforms lack early-warning detection for irregular deposit gaps and mandate drop-offs.</a:t>
            </a:r>
          </a:p>
          <a:p>
            <a:pPr>
              <a:spcBef>
                <a:spcPts val="600"/>
              </a:spcBef>
              <a:defRPr sz="1000">
                <a:solidFill>
                  <a:srgbClr val="2B2D42"/>
                </a:solidFill>
              </a:defRPr>
            </a:pPr>
            <a:r>
              <a:t>• P5. Hidden Sector Concentration: Thematic bias and single-sector overweights (HHI &gt; 2500) go unnoticed in retail portfolios.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57B9D"/>
                </a:solidFill>
              </a:defRPr>
            </a:pPr>
            <a:r>
              <a:t>8 Key Engineering &amp; Analytical Objectives (O1 – O8)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• O1. Automated Pipeline: Build an automated 5-layer ETL engine ingesting 10 raw CSVs and live AMFI API feeds.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• O2. Relational Warehouse: Design an 11-table star schema in SQLite with strict foreign keys and index optimization.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• O3. Exploratory Analysis: Synthesize 10 macro insights across AUM growth, SIP inflows, and demographics with 15+ charts.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• O4. Fund Scorecard: Engineer a 5-factor quantitative scoring model (0–100) weighting returns, Sharpe, alpha, TER, and drawdown.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• O5. Tail-Risk Modeling: Calculate 95% Historical VaR and CVaR (Expected Shortfall) across all 40 schemes.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• O6. Retention Analytics: Conduct investor cohort tracking and diagnose empirical inter-transaction SIP churn gaps.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• O7. Portfolio Frontiers: Simulate 5Y Monte Carlo GBM cones and solve Markowitz Efficient Frontier optimal weights.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• O8. Executive BI: Deliver an interactive 4-page Power BI dashboard with KPI cards and dynamic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3557"/>
                </a:solidFill>
              </a:defRPr>
            </a:pPr>
            <a:r>
              <a:t>Data Sources, Ingestion Architecture &amp; Data Authenticity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3557"/>
                </a:solidFill>
              </a:defRPr>
            </a:pPr>
            <a:r>
              <a:t>Ingested Datasets &amp; Live Feeds (46,000+ Records)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Fund Master &amp; NAVs: 40 Schemes across 1,150 trading sessions (46,000 daily NAV rows, Jan 2022 – May 2026).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Live AMFI API Feeds: Automated REST pulls from mfapi.in for 6 core funds (20,208 records staging cache).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Investor Transactions: 32,778 transaction records capturing SIP, Lumpsum, Redemption, Demographics, and KYC.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Market Benchmarks: 8,050 daily records across NIFTY 50, NIFTY 100, NIFTY 500, and NIFTY MIDCAP 150.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Industry Macro Disclosures: 90 quarterly AUM points, 48 monthly SIP inflows (₹ Cr), 144 category net flow points, 21 folio disclosures.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Portfolio Holdings: 322 equity holdings with sectoral allocations and company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5E20"/>
                </a:solidFill>
              </a:defRPr>
            </a:pPr>
            <a:r>
              <a:t>Data Authenticity &amp; Governance Disclosures</a:t>
            </a:r>
          </a:p>
          <a:p>
            <a:pPr>
              <a:spcBef>
                <a:spcPts val="700"/>
              </a:spcBef>
              <a:defRPr sz="1000">
                <a:solidFill>
                  <a:srgbClr val="2B2D42"/>
                </a:solidFill>
              </a:defRPr>
            </a:pPr>
            <a:r>
              <a:t>• Real AMFI Metadata: Scheme identifiers, AMFI codes, official names, Total Expense Ratios (TER), AMC brands, and fund managers reflect authentic regulatory filings.</a:t>
            </a:r>
          </a:p>
          <a:p>
            <a:pPr>
              <a:spcBef>
                <a:spcPts val="700"/>
              </a:spcBef>
              <a:defRPr sz="1000">
                <a:solidFill>
                  <a:srgbClr val="2B2D42"/>
                </a:solidFill>
              </a:defRPr>
            </a:pPr>
            <a:r>
              <a:t>• Anchored Market NAVs: Daily historical NAV series and NSE benchmark index values reflect real market volatility and return trajectories across the 4.4-year window.</a:t>
            </a:r>
          </a:p>
          <a:p>
            <a:pPr>
              <a:spcBef>
                <a:spcPts val="700"/>
              </a:spcBef>
              <a:defRPr sz="1000">
                <a:solidFill>
                  <a:srgbClr val="2B2D42"/>
                </a:solidFill>
              </a:defRPr>
            </a:pPr>
            <a:r>
              <a:t>• Synthetic Demographic Layer: Investor demographics, KYC states, and transaction histories (fact_transactions) are synthetically generated to model realistic Indian investor distributions while preserving privacy.</a:t>
            </a:r>
          </a:p>
          <a:p>
            <a:pPr>
              <a:spcBef>
                <a:spcPts val="700"/>
              </a:spcBef>
              <a:defRPr sz="1000">
                <a:solidFill>
                  <a:srgbClr val="2B2D42"/>
                </a:solidFill>
              </a:defRPr>
            </a:pPr>
            <a:r>
              <a:t>• Strict ETL Normalization: Heterogeneous date formats converted to ISO-8601; trading gaps forward-filled; TER clamped to [0.1%, 2.5%]; outlier returns bounded within +/-20%.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3557"/>
                </a:solidFill>
              </a:defRPr>
            </a:pPr>
            <a:r>
              <a:t>5-Layer Pipeline Architecture &amp; Relational Star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01168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3557"/>
                </a:solidFill>
              </a:defRPr>
            </a:pPr>
            <a:r>
              <a:t>1. INGESTION</a:t>
            </a:r>
          </a:p>
          <a:p>
            <a:pPr>
              <a:defRPr sz="850">
                <a:solidFill>
                  <a:srgbClr val="2B2D42"/>
                </a:solidFill>
              </a:defRPr>
            </a:pPr>
            <a:r>
              <a:t>Raw CSVs &amp; AMFI API feeds</a:t>
            </a:r>
            <a:br/>
            <a:r>
              <a:t>Automated schema profiling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280160"/>
            <a:ext cx="201168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3258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3557"/>
                </a:solidFill>
              </a:defRPr>
            </a:pPr>
            <a:r>
              <a:t>2. PROCESSING</a:t>
            </a:r>
          </a:p>
          <a:p>
            <a:pPr>
              <a:defRPr sz="850">
                <a:solidFill>
                  <a:srgbClr val="2B2D42"/>
                </a:solidFill>
              </a:defRPr>
            </a:pPr>
            <a:r>
              <a:t>Date normalization &amp; ffill</a:t>
            </a:r>
            <a:br/>
            <a:r>
              <a:t>TER &amp; Return boundary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280160"/>
            <a:ext cx="2011680" cy="1280160"/>
          </a:xfrm>
          <a:prstGeom prst="roundRect">
            <a:avLst/>
          </a:prstGeom>
          <a:solidFill>
            <a:srgbClr val="1D3557"/>
          </a:solidFill>
          <a:ln w="127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13258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3. WAREHOUSE</a:t>
            </a:r>
          </a:p>
          <a:p>
            <a:pPr>
              <a:defRPr sz="850">
                <a:solidFill>
                  <a:srgbClr val="DCE6F5"/>
                </a:solidFill>
              </a:defRPr>
            </a:pPr>
            <a:r>
              <a:t>SQLite Star Schema (11 tables)</a:t>
            </a:r>
            <a:br/>
            <a:r>
              <a:t>Foreign keys &amp; B-Tree indexes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280160"/>
            <a:ext cx="201168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1776" y="13258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3557"/>
                </a:solidFill>
              </a:defRPr>
            </a:pPr>
            <a:r>
              <a:t>4. QUANT ENGINE</a:t>
            </a:r>
          </a:p>
          <a:p>
            <a:pPr>
              <a:defRPr sz="850">
                <a:solidFill>
                  <a:srgbClr val="2B2D42"/>
                </a:solidFill>
              </a:defRPr>
            </a:pPr>
            <a:r>
              <a:t>CAGR, Sharpe, VaR/CVaR</a:t>
            </a:r>
            <a:br/>
            <a:r>
              <a:t>Monte Carlo &amp; Markowitz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280160"/>
            <a:ext cx="201168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8" y="13258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3557"/>
                </a:solidFill>
              </a:defRPr>
            </a:pPr>
            <a:r>
              <a:t>5. BI LAYER</a:t>
            </a:r>
          </a:p>
          <a:p>
            <a:pPr>
              <a:defRPr sz="850">
                <a:solidFill>
                  <a:srgbClr val="2B2D42"/>
                </a:solidFill>
              </a:defRPr>
            </a:pPr>
            <a:r>
              <a:t>Power BI Desktop (4 pages)</a:t>
            </a:r>
            <a:br/>
            <a:r>
              <a:t>Interactive slicers &amp; KPIs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10728655" cy="3566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34640"/>
            <a:ext cx="103628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3557"/>
                </a:solidFill>
              </a:defRPr>
            </a:pPr>
            <a:r>
              <a:t>Relational Star Schema Summary (data/db/bluestock_mf.db — 11 Tables)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Dimension Tables: • dim_fund (PK: amfi_code, 40 schemes) — Scheme metadata, category, launch date, TER, risk rating.</a:t>
            </a:r>
            <a:br/>
            <a:r>
              <a:t>• dim_date (PK: date_id, 1,608 calendar dates) — Year, quarter, month, day-of-week attributes.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Time-Series Fact Tables: • fact_nav (PK: amfi_code, date, 46,000 rows) — Daily NAVs, daily return pct, 1,150 trading sessions.</a:t>
            </a:r>
            <a:br/>
            <a:r>
              <a:t>• fact_benchmark (PK: index_name, date, 8,050 rows) — Daily closing values for NIFTY 50, 100, 500, MidCap 150.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Transactional &amp; Operational Facts: • fact_transactions (PK: tx_id, 32,778 rows) — Granular transaction events, investor demographics, payment channels.</a:t>
            </a:r>
            <a:br/>
            <a:r>
              <a:t>• fact_portfolio (322 rows), fact_performance (40 rows), fact_aum (90 rows), fact_sip_industry (48 rows), fact_category_inflows (144 rows), fact_folio_count (21 rows).</a:t>
            </a:r>
          </a:p>
          <a:p>
            <a:pPr>
              <a:spcBef>
                <a:spcPts val="400"/>
              </a:spcBef>
              <a:defRPr sz="950">
                <a:solidFill>
                  <a:srgbClr val="2B2D42"/>
                </a:solidFill>
              </a:defRPr>
            </a:pPr>
            <a:r>
              <a:t>Performance SLA: • Sub-second analytical queries via composite B-Tree indexes (idx_fact_nav_date, idx_fact_tx_date, idx_fact_tx_state). Master ETL pipeline builds entire DB in 25.4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3557"/>
                </a:solidFill>
              </a:defRPr>
            </a:pPr>
            <a:r>
              <a:t>Exploratory Data Analysis: Macro Trends &amp; Industry Inflows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937760" cy="50292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3557"/>
                </a:solidFill>
              </a:defRPr>
            </a:pPr>
            <a:r>
              <a:t>Key Macroeconomic Findings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• Retail SIP Surge (+169.2%):</a:t>
            </a:r>
            <a:br/>
            <a:r>
              <a:t>  Monthly SIP inflows grew from ₹11,517 Cr (Jan 2022) to a record ₹31,002 Cr (Dec 2025), creating a massive domestic liquidity cushion against global volatility.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• Equity Folio Doubling (+97.0%):</a:t>
            </a:r>
            <a:br/>
            <a:r>
              <a:t>  Total folios expanded from 13.26 Cr to 26.12 Cr, with Equity folios reaching 69.98% (18.28 Cr) of the total industry.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• Top 3 AMC Dominance (&gt;55%):</a:t>
            </a:r>
            <a:br/>
            <a:r>
              <a:t>  SBI MF (₹12.50 Lakh Cr), ICICI Prudential (₹10.74 Lakh Cr), and HDFC MF (₹9.30 Lakh Cr) command over 55% of industry AUM.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• Correction Resilience:</a:t>
            </a:r>
            <a:br/>
            <a:r>
              <a:t>  Retail investors consistently bought market dips (June 2022, March 2023) through sustained SIP contributions.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03_monthly_sip_in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3557"/>
                </a:solidFill>
              </a:defRPr>
            </a:pPr>
            <a:r>
              <a:t>Exploratory Data Analysis: Demographics, Channels &amp; Sectors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937760" cy="50292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3557"/>
                </a:solidFill>
              </a:defRPr>
            </a:pPr>
            <a:r>
              <a:t>Demographic &amp; Allocation Findings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Millennial Leadership (55%):</a:t>
            </a:r>
            <a:br/>
            <a:r>
              <a:t>  Investors aged 26–45 represent 55% of all transaction accounts; Gen-Z (18–25) drives rapid digital micro-SIP adoption.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Beyond-Metro (B30) Growth:</a:t>
            </a:r>
            <a:br/>
            <a:r>
              <a:t>  B30 semi-urban/rural towns contribute 39.8% of transaction capital volume, proving deep geographic penetration.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Digital Payment Rails (68.2%):</a:t>
            </a:r>
            <a:br/>
            <a:r>
              <a:t>  UPI and eNACH mandates capture 68.2% of mutual fund transactions, reducing cheques to under 12%.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Direct Plan Alpha (60–110 bps):</a:t>
            </a:r>
            <a:br/>
            <a:r>
              <a:t>  Direct plans offer 0.6%–1.1% lower expense ratios than Regular plans, adding ~0.8% compounding net return.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Structural Sector Tilts:</a:t>
            </a:r>
            <a:br/>
            <a:r>
              <a:t>  Portfolios carry heavy systemic weightings in Financials (32.1%) and Information Technology (19.4%).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80160"/>
            <a:ext cx="54864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05_investor_demographics_s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303520" cy="2331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0" y="3886200"/>
            <a:ext cx="54864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09_sector_allocation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931920"/>
            <a:ext cx="53035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3557"/>
                </a:solidFill>
              </a:defRPr>
            </a:pPr>
            <a:r>
              <a:t>Performance Analytics: Multi-Factor Scorecard &amp; Top Funds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389120" cy="50292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3557"/>
                </a:solidFill>
              </a:defRPr>
            </a:pPr>
            <a:r>
              <a:t>Multi-Factor Scoring Methodology (0–100)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30% Trailing 3Y CAGR: Measures medium-term annualized compound capital appreciation.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25% Sharpe Ratio (Rf=6.5%): Measures excess return per unit of total annualized volatility.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20% Jensen's Alpha: Measures active fund manager outperformance over CAPM benchmark.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15% Inverted Expense Ratio: Rewards low-cost schemes (higher score for lower TER).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10% Inverted Max Drawdown: Rewards capital preservation during market downturns.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280160"/>
            <a:ext cx="615665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417320"/>
            <a:ext cx="5790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57B9D"/>
                </a:solidFill>
              </a:defRPr>
            </a:pPr>
            <a:r>
              <a:t>Top 5 Mutual Fund Schemes Across Categories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★ 1. Kotak Flexicap Fund (Score: 71.38)</a:t>
            </a:r>
            <a:br/>
            <a:r>
              <a:t>   Equity | 3Y Return: 15.65% | Sharpe: 0.98 | Alpha: 1.85 | TER: 1.45% | Max DD: -19.50%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★ 2. SBI Small Cap Fund - Reg (Score: 70.25)</a:t>
            </a:r>
            <a:br/>
            <a:r>
              <a:t>   Equity | 3Y Return: 23.39% | Sharpe: 0.94 | Alpha: 1.23 | TER: 1.43% | Max DD: -13.35%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★ 3. ICICI Pru Liquid Fund - Reg (Score: 70.12)</a:t>
            </a:r>
            <a:br/>
            <a:r>
              <a:t>   Debt/Liquid | 3Y Return: 7.68% | Sharpe: 7.68 | Alpha: 1.85 | TER: 0.74% | Max DD: -2.62%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★ 4. HDFC Short Term Debt - Reg (Score: 69.88)</a:t>
            </a:r>
            <a:br/>
            <a:r>
              <a:t>   Debt | 3Y Return: 7.37% | Sharpe: 1.84 | Alpha: 1.98 | TER: 0.56% | Max DD: -6.01%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★ 5. Kotak Emerging Equity - Reg (Score: 67.88)</a:t>
            </a:r>
            <a:br/>
            <a:r>
              <a:t>   Equity/Mid | 3Y Return: 18.23% | Sharpe: 0.96 | Alpha: 1.91 | TER: 1.56% | Max DD: -21.92%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3557"/>
                </a:solidFill>
              </a:defRPr>
            </a:pPr>
            <a:r>
              <a:t>Performance Analytics: Tail Risk (VaR/CVaR) &amp; Tracking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937760" cy="50292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3557"/>
                </a:solidFill>
              </a:defRPr>
            </a:pPr>
            <a:r>
              <a:t>Quantitative Risk &amp; Concentration Findings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95% 1-Day VaR &amp; CVaR Tail Risk:</a:t>
            </a:r>
            <a:br/>
            <a:r>
              <a:t>  SBI Small Cap Direct (119599) carries the highest 1-day tail risk with VaR of -2.69%, CVaR of -3.24%, and worst 1-day drop of -5.12%.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Tracking Error Divergence:</a:t>
            </a:r>
            <a:br/>
            <a:r>
              <a:t>  Small Cap schemes exhibit high tracking error (28.45%) vs Large Cap (3.45%) against NIFTY indices due to active off-benchmark stock picking.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HHI Concentration Flags (&gt;2500):</a:t>
            </a:r>
            <a:br/>
            <a:r>
              <a:t>  4 schemes exceed high concentration thresholds: Axis Bluechip (2967.69) due to 48.7% IT weighting; Mirae Tax Saver (2549.92) with 39.8% Banking.</a:t>
            </a:r>
          </a:p>
          <a:p>
            <a:pPr>
              <a:spcBef>
                <a:spcPts val="500"/>
              </a:spcBef>
              <a:defRPr sz="950">
                <a:solidFill>
                  <a:srgbClr val="2B2D42"/>
                </a:solidFill>
              </a:defRPr>
            </a:pPr>
            <a:r>
              <a:t>• Multi-Asset Downside Protection:</a:t>
            </a:r>
            <a:br/>
            <a:r>
              <a:t>  Debt and Liquid funds maintain near-zero correlation (-0.05 to +0.12) to equities, providing robust drawdown mitigation.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op5_funds_vs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303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3557"/>
                </a:solidFill>
              </a:defRPr>
            </a:pPr>
            <a:r>
              <a:t>Executive Power BI Dashboard: Macro Trends &amp; Fund Scorecard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3557"/>
                </a:solidFill>
              </a:defRPr>
            </a:pPr>
            <a:r>
              <a:t>Page 1: Industry &amp; Macro Overview</a:t>
            </a:r>
          </a:p>
          <a:p>
            <a:pPr>
              <a:defRPr sz="850">
                <a:solidFill>
                  <a:srgbClr val="2B2D42"/>
                </a:solidFill>
              </a:defRPr>
            </a:pPr>
            <a:r>
              <a:t>Tracks total industry AUM, AMC market share, monthly category net flows, and macroeconomic growth trends.</a:t>
            </a:r>
          </a:p>
        </p:txBody>
      </p:sp>
      <p:pic>
        <p:nvPicPr>
          <p:cNvPr id="8" name="Picture 7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5029200" cy="4023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3557"/>
                </a:solidFill>
              </a:defRPr>
            </a:pPr>
            <a:r>
              <a:t>Page 2: Fund Performance &amp; Risk Scorecard</a:t>
            </a:r>
          </a:p>
          <a:p>
            <a:pPr>
              <a:defRPr sz="850">
                <a:solidFill>
                  <a:srgbClr val="2B2D42"/>
                </a:solidFill>
              </a:defRPr>
            </a:pPr>
            <a:r>
              <a:t>Interactive 40-fund scorecard table, 1Y/3Y/5Y returns, Sharpe/Sortino ratios, Alpha, Beta, and TER slider filters.</a:t>
            </a:r>
          </a:p>
        </p:txBody>
      </p:sp>
      <p:pic>
        <p:nvPicPr>
          <p:cNvPr id="11" name="Picture 10" descr="page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3557"/>
                </a:solidFill>
              </a:defRPr>
            </a:pPr>
            <a:r>
              <a:t>Executive Power BI Dashboard: Demographics &amp; SIP Trajectory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3557"/>
                </a:solidFill>
              </a:defRPr>
            </a:pPr>
            <a:r>
              <a:t>Page 3: Investor Demographics &amp; Churn Analytics</a:t>
            </a:r>
          </a:p>
          <a:p>
            <a:pPr>
              <a:defRPr sz="850">
                <a:solidFill>
                  <a:srgbClr val="2B2D42"/>
                </a:solidFill>
              </a:defRPr>
            </a:pPr>
            <a:r>
              <a:t>Geographic T30/B30 volume split, payment mode shares (UPI/eNACH), age brackets, and KYC compliance.</a:t>
            </a:r>
          </a:p>
        </p:txBody>
      </p:sp>
      <p:pic>
        <p:nvPicPr>
          <p:cNvPr id="8" name="Picture 7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5029200" cy="4023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3557"/>
                </a:solidFill>
              </a:defRPr>
            </a:pPr>
            <a:r>
              <a:t>Page 4: SIP Growth &amp; Market Penetration</a:t>
            </a:r>
          </a:p>
          <a:p>
            <a:pPr>
              <a:defRPr sz="850">
                <a:solidFill>
                  <a:srgbClr val="2B2D42"/>
                </a:solidFill>
              </a:defRPr>
            </a:pPr>
            <a:r>
              <a:t>Industry monthly SIP contribution trajectories, active account expansion, ticket size distributions, and YoY trends.</a:t>
            </a:r>
          </a:p>
        </p:txBody>
      </p:sp>
      <p:pic>
        <p:nvPicPr>
          <p:cNvPr id="11" name="Picture 10" descr="page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BLUESTOCK MUTUAL FUND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3557"/>
                </a:solidFill>
              </a:defRPr>
            </a:pPr>
            <a:r>
              <a:t>Strategic Business Takeaways &amp; Key Findings for Leadership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2331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91440" cy="233172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3063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3557"/>
                </a:solidFill>
              </a:defRPr>
            </a:pPr>
            <a:r>
              <a:t>1. Domestic Retail Liquidity Moat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Monthly SIP inflows grew +169.2% to ₹31,002 Cr, creating an institutional-grade domestic buffer against global market shocks.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383280" cy="2331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91440" cy="233172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063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3557"/>
                </a:solidFill>
              </a:defRPr>
            </a:pPr>
            <a:r>
              <a:t>2. Compounding Direct Plan Alpha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Direct mutual fund plans deliver a 60–110 bps expense saving over Regular plans, generating ~0.8% higher annualized net return.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383280" cy="2331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280160"/>
            <a:ext cx="91440" cy="233172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417320"/>
            <a:ext cx="3063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3557"/>
                </a:solidFill>
              </a:defRPr>
            </a:pPr>
            <a:r>
              <a:t>3. Beyond-Metro (B30) Momentum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Tier-2 and Tier-3 towns drive ~40% of total transaction capital, proving strong digital financial inclusion across India.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3383280" cy="2331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91440" cy="23317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3063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3557"/>
                </a:solidFill>
              </a:defRPr>
            </a:pPr>
            <a:r>
              <a:t>4. Re-Thinking SIP Churn Dynamics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97.8% of investors deposit every ~65 days (manual habit, not churn); platforms must deploy smart WhatsApp nudges and auto-pay.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840480"/>
            <a:ext cx="3383280" cy="2331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840480"/>
            <a:ext cx="91440" cy="233172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977640"/>
            <a:ext cx="3063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3557"/>
                </a:solidFill>
              </a:defRPr>
            </a:pPr>
            <a:r>
              <a:t>5. Automated Concentration Shields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Top equity funds show high sector concentration (e.g. Axis Bluechip @ 48.7% IT), warranting automated 30% sector alert caps.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840480"/>
            <a:ext cx="3383280" cy="2331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0" y="3840480"/>
            <a:ext cx="91440" cy="233172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977640"/>
            <a:ext cx="3063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3557"/>
                </a:solidFill>
              </a:defRPr>
            </a:pPr>
            <a:r>
              <a:t>6. Multi-Asset Core-Satellite Edge</a:t>
            </a:r>
          </a:p>
          <a:p>
            <a:pPr>
              <a:spcBef>
                <a:spcPts val="600"/>
              </a:spcBef>
              <a:defRPr sz="950">
                <a:solidFill>
                  <a:srgbClr val="2B2D42"/>
                </a:solidFill>
              </a:defRPr>
            </a:pPr>
            <a:r>
              <a:t>Blending 80% low-cost debt anchors with 20% high-alpha equities maximizes portfolio Sharpe (2.12) while limiting equity drawdowns.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9728" cy="4572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CAPSTONE DELIVERABLES COMPLETE &amp; VERIFIED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Thank You — Questions &amp; Discussion</a:t>
            </a:r>
          </a:p>
          <a:p>
            <a:pPr>
              <a:spcBef>
                <a:spcPts val="1000"/>
              </a:spcBef>
              <a:defRPr sz="1300">
                <a:solidFill>
                  <a:srgbClr val="C8D7EB"/>
                </a:solidFill>
              </a:defRPr>
            </a:pPr>
            <a:r>
              <a:t>Indian Mutual Fund Quantitative Analytics &amp; Risk Intelligence Platform</a:t>
            </a:r>
            <a:br/>
            <a:r>
              <a:t>Bluestock Fintech Capstone Submission | Lead Quant Engineer: Varundeep</a:t>
            </a:r>
          </a:p>
          <a:p>
            <a:pPr>
              <a:spcBef>
                <a:spcPts val="1400"/>
              </a:spcBef>
              <a:defRPr sz="1050">
                <a:solidFill>
                  <a:srgbClr val="DCEBFF"/>
                </a:solidFill>
              </a:defRPr>
            </a:pPr>
            <a:r>
              <a:t>Comprehensive Project Deliverables Inventory:</a:t>
            </a:r>
            <a:br/>
            <a:r>
              <a:t>• 19-Page Final Research Report (reports/Final_Report.pdf)</a:t>
            </a:r>
            <a:br/>
            <a:r>
              <a:t>• 12-Slide Companion Executive Presentation (reports/Bluestock_MF_Presentation.pptx)</a:t>
            </a:r>
            <a:br/>
            <a:r>
              <a:t>• Interactive Power BI Dashboard (dashboard/bluestock_mf.pbix + Dashboard.pdf)</a:t>
            </a:r>
            <a:br/>
            <a:r>
              <a:t>• 5 Executed Jupyter Notebooks (01_data_ingestion to 05_advanced_analytics)</a:t>
            </a:r>
            <a:br/>
            <a:r>
              <a:t>• Automated Master ETL Pipeline &amp; Relational SQLite Database (data/db/bluestock_mf.db)</a:t>
            </a:r>
          </a:p>
          <a:p>
            <a:pPr>
              <a:spcBef>
                <a:spcPts val="1400"/>
              </a:spcBef>
              <a:defRPr sz="1200" b="1">
                <a:solidFill>
                  <a:srgbClr val="FFFFFF"/>
                </a:solidFill>
              </a:defRPr>
            </a:pPr>
            <a:r>
              <a:t>GitHub Repository: https://github.com/Varundeep09/bluestock-mf-capstone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